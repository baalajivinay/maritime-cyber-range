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Arial"/>
              </a:rPr>
              <a:t>MARITIME CYBER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6400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Arial"/>
              </a:rPr>
              <a:t>01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08792" cy="15240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88136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400" b="1" i="0">
                <a:solidFill>
                  <a:srgbClr val="111827"/>
                </a:solidFill>
                <a:latin typeface="Arial"/>
              </a:rPr>
              <a:t>Unmanned Ships Can Be Hacked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rial"/>
              </a:rPr>
              <a:t>Maritime Cyber Range -- a testbed for attacking and defending autonomous vessels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51176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104698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</a:rPr>
              <a:t>Unmanned surface and underwater vehicles are the future of naval 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98064"/>
            <a:ext cx="104698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Fewer crews, longer missions, lower cost -- navies worldwide are adopting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92424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310128"/>
            <a:ext cx="104698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</a:rPr>
              <a:t>They run on GPS, AIS, and radio commands -- all of it is forgeable.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39312"/>
            <a:ext cx="104698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None of these signals were designed with an attacker in mind.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33672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151376"/>
            <a:ext cx="104698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</a:rPr>
              <a:t>A spoofed GPS fix or a replayed command can silently steer a real vessel.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80560"/>
            <a:ext cx="104698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No alarms, no warning -- the vehicle just believes the lie.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074920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992624"/>
            <a:ext cx="104698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</a:rPr>
              <a:t>There was no easy way to test, end-to-end, whether a given vessel would resist this.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321808"/>
            <a:ext cx="104698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This project builds a tool that answers that question, with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Arial"/>
              </a:rPr>
              <a:t>MARITIME CYBER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6400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Arial"/>
              </a:rPr>
              <a:t>02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08792" cy="15240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8813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Arial"/>
              </a:rPr>
              <a:t>We Built a Cyber Range to Find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rial"/>
              </a:rPr>
              <a:t>Real autopilot software, real physics, four digital-twin vehicles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14016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709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  <a:latin typeface="Arial"/>
              </a:rPr>
              <a:t>Real ArduPilot + Gazebo physics.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60904"/>
            <a:ext cx="470916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The same flight-control software used on real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602736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20440"/>
            <a:ext cx="470916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  <a:latin typeface="Arial"/>
              </a:rPr>
              <a:t>Two real Navy vehicle designs, twinned.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49624"/>
            <a:ext cx="470916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A mine-hunting surface boat and an underwater mine-hunting AUV.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414016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331720"/>
            <a:ext cx="49834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  <a:latin typeface="Arial"/>
              </a:rPr>
              <a:t>Each vehicle: vulnerable + hardened.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60904"/>
            <a:ext cx="49834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Same hardware, one has basic security hygiene switched 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602736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520440"/>
            <a:ext cx="49834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600" b="1" i="0">
                <a:solidFill>
                  <a:srgbClr val="111827"/>
                </a:solidFill>
                <a:latin typeface="Arial"/>
              </a:rPr>
              <a:t>The hardened twin proves defenses 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849624"/>
            <a:ext cx="49834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A side-by-side, apples-to-apples security comparison.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09160"/>
            <a:ext cx="10881360" cy="1417320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3327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00" b="1" i="0">
                <a:solidFill>
                  <a:srgbClr val="0B5E6A"/>
                </a:solidFill>
                <a:latin typeface="Arial"/>
              </a:rPr>
              <a:t>THE FOUR TWINS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Arial"/>
              </a:rPr>
              <a:t>Fleet-class USV (surface)  +  REMUS-100 AUV (underwater)  --  each as a vulnerable / hardened pair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Arial"/>
              </a:rPr>
              <a:t>MARITIME CYBER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6400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Arial"/>
              </a:rPr>
              <a:t>03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08792" cy="15240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8813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Arial"/>
              </a:rPr>
              <a:t>Attack, Then Watch What Happens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rial"/>
              </a:rPr>
              <a:t>Three real attacks, launched from the dashboard, scored by a blind detector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14016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104698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</a:rPr>
              <a:t>GPS / acoustic-position spoofing -- feed the vehicle a false location.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60904"/>
            <a:ext cx="104698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Surface vehicles get forged GPS; the AUV gets a forged acoustic position fix.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55264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72968"/>
            <a:ext cx="104698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</a:rPr>
              <a:t>AIS spoofing -- impersonate or ghost another vessel on the radio.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02152"/>
            <a:ext cx="104698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Tests whether nearby traffic reporting can be faked convincingly.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96512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14216"/>
            <a:ext cx="104698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</a:rPr>
              <a:t>Command replay / injection -- resend or forge autopilot commands.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343400"/>
            <a:ext cx="104698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Can an attacker seize control by replaying or injecting MAVLink commands?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37760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55464"/>
            <a:ext cx="104698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</a:rPr>
              <a:t>A rule-based detector watches every attack blind -- it never sees attack ground truth.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184648"/>
            <a:ext cx="104698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Answers two separate questions: did it work, and would anyone notice?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Arial"/>
              </a:rPr>
              <a:t>MARITIME CYBER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6400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Arial"/>
              </a:rPr>
              <a:t>04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08792" cy="15240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8813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Arial"/>
              </a:rPr>
              <a:t>The Results, Proven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rial"/>
              </a:rPr>
              <a:t>Every result below came from a real, live run -- not assumed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3502152" cy="1737360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953512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1" i="0">
                <a:solidFill>
                  <a:srgbClr val="0B5E6A"/>
                </a:solidFill>
                <a:latin typeface="Arial"/>
              </a:rPr>
              <a:t>VULNERABLE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2953512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Arial"/>
              </a:rPr>
              <a:t>on every tested attack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39312"/>
            <a:ext cx="2953512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mode-change, RC-override, GPS spoof (where physically possible)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6552" y="2377440"/>
            <a:ext cx="3502152" cy="1737360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514600"/>
            <a:ext cx="2953512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1" i="0">
                <a:solidFill>
                  <a:srgbClr val="0B5E6A"/>
                </a:solidFill>
                <a:latin typeface="Arial"/>
              </a:rPr>
              <a:t>RESILIENT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337560"/>
            <a:ext cx="2953512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Arial"/>
              </a:rPr>
              <a:t>attacker couldn't succeed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639312"/>
            <a:ext cx="2953512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mode-change blocked outright; RC-override never got far enough to arm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2377440"/>
            <a:ext cx="3502152" cy="1737360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2514600"/>
            <a:ext cx="2953512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4000" b="1" i="0">
                <a:solidFill>
                  <a:srgbClr val="0B5E6A"/>
                </a:solidFill>
                <a:latin typeface="Arial"/>
              </a:rPr>
              <a:t>0s -- 11s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3337560"/>
            <a:ext cx="2953512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  <a:latin typeface="Arial"/>
              </a:rPr>
              <a:t>detection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3639312"/>
            <a:ext cx="2953512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instant for GPS/AIS; ~10s for C2 (a measurement-window design choice, not a gap)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08576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526280"/>
            <a:ext cx="104698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</a:rPr>
              <a:t>Every attack was blocked or stopped before it could start.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55464"/>
            <a:ext cx="104698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Same physical vehicle, same mission -- security hygiene alone made the difference.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85816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03520"/>
            <a:ext cx="104698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</a:rPr>
              <a:t>The whole pipeline works on any ArduPilot-based vehicle, not just ours.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632704"/>
            <a:ext cx="104698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Point the tool at someone else's autopilot and get the same verdict +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Arial"/>
              </a:rPr>
              <a:t>MARITIME CYBER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320040"/>
            <a:ext cx="6400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Arial"/>
              </a:rPr>
              <a:t>05 /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13232"/>
            <a:ext cx="10908792" cy="15240"/>
          </a:xfrm>
          <a:prstGeom prst="rect">
            <a:avLst/>
          </a:prstGeom>
          <a:solidFill>
            <a:srgbClr val="E4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88136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11827"/>
                </a:solidFill>
                <a:latin typeface="Arial"/>
              </a:rP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rial"/>
              </a:rPr>
              <a:t>A reusable answer to a question every autonomous fleet will be asked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14016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104698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</a:rPr>
              <a:t>A reusable testing tool, not a one-off demo.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60904"/>
            <a:ext cx="104698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Point it at any ArduPilot vehicle and get a real vulnerability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55264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72968"/>
            <a:ext cx="104698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</a:rPr>
              <a:t>A clear, defensible verdict every time -- never a guess.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02152"/>
            <a:ext cx="104698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Four possible outcomes: vulnerable, resilient, inconclusive, or not applicable.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96512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14216"/>
            <a:ext cx="104698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</a:rPr>
              <a:t>Cheap, safe, and fast to run before a vehicle ever touches water.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343400"/>
            <a:ext cx="104698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Simulation-first testing catches problems before they're expensive to fix.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937760"/>
            <a:ext cx="256032" cy="38100"/>
          </a:xfrm>
          <a:prstGeom prst="rect">
            <a:avLst/>
          </a:prstGeom>
          <a:solidFill>
            <a:srgbClr val="0B5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55464"/>
            <a:ext cx="104698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  <a:latin typeface="Arial"/>
              </a:rPr>
              <a:t>Next up: finish the AUV fix, then test two new attacks.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184648"/>
            <a:ext cx="1046988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Arial"/>
              </a:rPr>
              <a:t>Navigation's root cause is found; mission-redirect and parameter tampering are next.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